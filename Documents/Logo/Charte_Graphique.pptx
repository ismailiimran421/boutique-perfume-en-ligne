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-pc" initials="h" lastIdx="1" clrIdx="0">
    <p:extLst>
      <p:ext uri="{19B8F6BF-5375-455C-9EA6-DF929625EA0E}">
        <p15:presenceInfo xmlns:p15="http://schemas.microsoft.com/office/powerpoint/2012/main" userId="b20962c7f4459da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9CC41-EE12-4D89-931C-E3B0A5C533C6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0BE265-9ED2-4465-8ABD-63BE382066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5792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8D23-ED72-4868-BE2C-4D1D207AEB5E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7E0F-9593-4F00-94E1-B1112F726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196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8D23-ED72-4868-BE2C-4D1D207AEB5E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7E0F-9593-4F00-94E1-B1112F726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014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8D23-ED72-4868-BE2C-4D1D207AEB5E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7E0F-9593-4F00-94E1-B1112F726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17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8D23-ED72-4868-BE2C-4D1D207AEB5E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7E0F-9593-4F00-94E1-B1112F726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8978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8D23-ED72-4868-BE2C-4D1D207AEB5E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7E0F-9593-4F00-94E1-B1112F726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51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8D23-ED72-4868-BE2C-4D1D207AEB5E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7E0F-9593-4F00-94E1-B1112F726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3375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8D23-ED72-4868-BE2C-4D1D207AEB5E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7E0F-9593-4F00-94E1-B1112F726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650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8D23-ED72-4868-BE2C-4D1D207AEB5E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7E0F-9593-4F00-94E1-B1112F726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2341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8D23-ED72-4868-BE2C-4D1D207AEB5E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7E0F-9593-4F00-94E1-B1112F726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752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8D23-ED72-4868-BE2C-4D1D207AEB5E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7E0F-9593-4F00-94E1-B1112F726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378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68D23-ED72-4868-BE2C-4D1D207AEB5E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7E0F-9593-4F00-94E1-B1112F726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1113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68D23-ED72-4868-BE2C-4D1D207AEB5E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7E0F-9593-4F00-94E1-B1112F726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289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1595" y="783149"/>
            <a:ext cx="5177009" cy="51770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43138" y="5870076"/>
            <a:ext cx="19139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chemeClr val="bg1">
                    <a:lumMod val="85000"/>
                  </a:schemeClr>
                </a:solidFill>
              </a:rPr>
              <a:t>CHARTE GRAPHIQUE</a:t>
            </a:r>
          </a:p>
          <a:p>
            <a:pPr algn="ctr"/>
            <a:r>
              <a:rPr lang="en-US" sz="1600" u="sng" dirty="0" smtClean="0">
                <a:solidFill>
                  <a:schemeClr val="bg1">
                    <a:lumMod val="50000"/>
                  </a:schemeClr>
                </a:solidFill>
              </a:rPr>
              <a:t>2026</a:t>
            </a:r>
            <a:endParaRPr lang="fr-FR" sz="16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Étoile à 5 branches 13"/>
          <p:cNvSpPr/>
          <p:nvPr/>
        </p:nvSpPr>
        <p:spPr>
          <a:xfrm>
            <a:off x="10021017" y="0"/>
            <a:ext cx="2090469" cy="2115328"/>
          </a:xfrm>
          <a:prstGeom prst="star5">
            <a:avLst>
              <a:gd name="adj" fmla="val 0"/>
              <a:gd name="hf" fmla="val 105146"/>
              <a:gd name="vf" fmla="val 11055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Étoile à 5 branches 15"/>
          <p:cNvSpPr/>
          <p:nvPr/>
        </p:nvSpPr>
        <p:spPr>
          <a:xfrm>
            <a:off x="88713" y="0"/>
            <a:ext cx="2090469" cy="2115328"/>
          </a:xfrm>
          <a:prstGeom prst="star5">
            <a:avLst>
              <a:gd name="adj" fmla="val 0"/>
              <a:gd name="hf" fmla="val 105146"/>
              <a:gd name="vf" fmla="val 11055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366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233577" y="729411"/>
            <a:ext cx="2820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u="sng" dirty="0" smtClean="0">
                <a:solidFill>
                  <a:schemeClr val="bg1">
                    <a:lumMod val="85000"/>
                  </a:schemeClr>
                </a:solidFill>
                <a:latin typeface="Algerian" panose="04020705040A02060702" pitchFamily="82" charset="0"/>
              </a:rPr>
              <a:t>Sommaire</a:t>
            </a:r>
            <a:endParaRPr lang="fr-FR" b="1" u="sng" dirty="0">
              <a:solidFill>
                <a:schemeClr val="bg1">
                  <a:lumMod val="8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708694" y="2889849"/>
            <a:ext cx="50445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bg1">
                    <a:lumMod val="85000"/>
                  </a:schemeClr>
                </a:solidFill>
              </a:rPr>
              <a:t>Presentation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lang="fr-FR" sz="2400" dirty="0" smtClean="0">
                <a:solidFill>
                  <a:schemeClr val="bg1">
                    <a:lumMod val="85000"/>
                  </a:schemeClr>
                </a:solidFill>
              </a:rPr>
              <a:t>é</a:t>
            </a:r>
            <a:r>
              <a:rPr lang="en-US" sz="2400" dirty="0" smtClean="0">
                <a:solidFill>
                  <a:schemeClr val="bg1">
                    <a:lumMod val="85000"/>
                  </a:schemeClr>
                </a:solidFill>
              </a:rPr>
              <a:t>clinaisons du logotype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bg1">
                    <a:lumMod val="85000"/>
                  </a:schemeClr>
                </a:solidFill>
              </a:rPr>
              <a:t>Les couleurs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bg1">
                    <a:lumMod val="85000"/>
                  </a:schemeClr>
                </a:solidFill>
              </a:rPr>
              <a:t>La typographie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bg1">
                    <a:lumMod val="85000"/>
                  </a:schemeClr>
                </a:solidFill>
              </a:rPr>
              <a:t>Les interdits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bg1">
                    <a:lumMod val="85000"/>
                  </a:schemeClr>
                </a:solidFill>
              </a:rPr>
              <a:t>Zone de protection &amp; taille minimale</a:t>
            </a: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538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940279" y="577969"/>
            <a:ext cx="2648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u="sng" dirty="0" smtClean="0">
                <a:solidFill>
                  <a:schemeClr val="bg1">
                    <a:lumMod val="85000"/>
                  </a:schemeClr>
                </a:solidFill>
                <a:latin typeface="Algerian" panose="04020705040A02060702" pitchFamily="82" charset="0"/>
              </a:rPr>
              <a:t>Presentation</a:t>
            </a:r>
            <a:endParaRPr lang="en-US" sz="2400" u="sng" dirty="0">
              <a:solidFill>
                <a:schemeClr val="bg1">
                  <a:lumMod val="85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240" y="760849"/>
            <a:ext cx="4908431" cy="490843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ZoneTexte 6"/>
          <p:cNvSpPr txBox="1"/>
          <p:nvPr/>
        </p:nvSpPr>
        <p:spPr>
          <a:xfrm>
            <a:off x="1002103" y="2096219"/>
            <a:ext cx="51758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Le logo </a:t>
            </a:r>
            <a:r>
              <a:rPr lang="fr-FR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Sillage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 est une signature visuelle haut de gamme qui allie l'épure classique à l'univers sensoriel de la parfumerie. Il se compose d'un emblème stylisé représentant un flacon dont s'échappe une empreinte olfactive fluide, surmontant une typographie à empattements statuaires. L'ensemble, décliné en or sur fond noir, symbolise l'expertise, le luxe discret et l'accompagnement </a:t>
            </a:r>
            <a:r>
              <a:rPr lang="fr-FR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personnalisé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 dans la recherche d'une identité de parfum </a:t>
            </a:r>
            <a:r>
              <a:rPr lang="fr-FR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unique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fr-FR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64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56433" y="765294"/>
            <a:ext cx="4562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>
                    <a:lumMod val="85000"/>
                  </a:schemeClr>
                </a:solidFill>
                <a:latin typeface="Algerian" panose="04020705040A02060702" pitchFamily="82" charset="0"/>
              </a:rPr>
              <a:t>D</a:t>
            </a:r>
            <a:r>
              <a:rPr lang="fr-FR" sz="2400" u="sng" dirty="0">
                <a:solidFill>
                  <a:schemeClr val="bg1">
                    <a:lumMod val="85000"/>
                  </a:schemeClr>
                </a:solidFill>
                <a:latin typeface="Algerian" panose="04020705040A02060702" pitchFamily="82" charset="0"/>
              </a:rPr>
              <a:t>é</a:t>
            </a:r>
            <a:r>
              <a:rPr lang="en-US" sz="2400" u="sng" dirty="0">
                <a:solidFill>
                  <a:schemeClr val="bg1">
                    <a:lumMod val="85000"/>
                  </a:schemeClr>
                </a:solidFill>
                <a:latin typeface="Algerian" panose="04020705040A02060702" pitchFamily="82" charset="0"/>
              </a:rPr>
              <a:t>clinaisons du </a:t>
            </a:r>
            <a:r>
              <a:rPr lang="en-US" sz="2400" u="sng" dirty="0" smtClean="0">
                <a:solidFill>
                  <a:schemeClr val="bg1">
                    <a:lumMod val="85000"/>
                  </a:schemeClr>
                </a:solidFill>
                <a:latin typeface="Algerian" panose="04020705040A02060702" pitchFamily="82" charset="0"/>
              </a:rPr>
              <a:t>logotype</a:t>
            </a:r>
            <a:endParaRPr lang="en-US" sz="2400" u="sng" dirty="0">
              <a:solidFill>
                <a:schemeClr val="bg1">
                  <a:lumMod val="85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320" y="0"/>
            <a:ext cx="4419600" cy="36083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590" y="3608340"/>
            <a:ext cx="2773680" cy="277368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00" y="3608340"/>
            <a:ext cx="2773680" cy="277368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680" y="3608340"/>
            <a:ext cx="2773680" cy="277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927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812800" y="609600"/>
            <a:ext cx="2611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>
                    <a:lumMod val="85000"/>
                  </a:schemeClr>
                </a:solidFill>
                <a:latin typeface="Algerian" panose="04020705040A02060702" pitchFamily="82" charset="0"/>
              </a:rPr>
              <a:t>Les </a:t>
            </a:r>
            <a:r>
              <a:rPr lang="en-US" sz="2400" u="sng" dirty="0" smtClean="0">
                <a:solidFill>
                  <a:schemeClr val="bg1">
                    <a:lumMod val="85000"/>
                  </a:schemeClr>
                </a:solidFill>
                <a:latin typeface="Algerian" panose="04020705040A02060702" pitchFamily="82" charset="0"/>
              </a:rPr>
              <a:t>couleurs</a:t>
            </a:r>
            <a:endParaRPr lang="en-US" sz="2400" u="sng" dirty="0">
              <a:solidFill>
                <a:schemeClr val="bg1">
                  <a:lumMod val="85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98" y="2624670"/>
            <a:ext cx="1269508" cy="1222580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849098" y="4145278"/>
            <a:ext cx="20024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>
                    <a:lumMod val="85000"/>
                  </a:schemeClr>
                </a:solidFill>
              </a:rPr>
              <a:t>CMJN </a:t>
            </a:r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:</a:t>
            </a:r>
            <a:r>
              <a:rPr lang="en-US" b="1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75 68 67 90</a:t>
            </a:r>
            <a:endParaRPr lang="fr-FR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HEX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 : 010100</a:t>
            </a:r>
          </a:p>
          <a:p>
            <a:r>
              <a:rPr lang="en-US" b="1" dirty="0" smtClean="0">
                <a:solidFill>
                  <a:schemeClr val="bg1">
                    <a:lumMod val="85000"/>
                  </a:schemeClr>
                </a:solidFill>
              </a:rPr>
              <a:t>RGB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: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 1 1 0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191" y="2624670"/>
            <a:ext cx="1269508" cy="1222580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424412" y="4124956"/>
            <a:ext cx="19173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CMJN </a:t>
            </a: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: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0 0 0 0</a:t>
            </a:r>
            <a:endParaRPr lang="fr-FR" b="1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HEX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 : FFFFFF</a:t>
            </a:r>
          </a:p>
          <a:p>
            <a:r>
              <a:rPr lang="en-US" b="1" dirty="0" smtClean="0">
                <a:solidFill>
                  <a:schemeClr val="bg1">
                    <a:lumMod val="85000"/>
                  </a:schemeClr>
                </a:solidFill>
              </a:rPr>
              <a:t>RGB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: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 255 255 255</a:t>
            </a: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903" y="2642018"/>
            <a:ext cx="1251495" cy="1205232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6183231" y="4124952"/>
            <a:ext cx="18854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CMJN </a:t>
            </a: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: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30 35 95 5</a:t>
            </a:r>
            <a:endParaRPr lang="fr-FR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HEX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 : B89D30</a:t>
            </a:r>
          </a:p>
          <a:p>
            <a:r>
              <a:rPr lang="en-US" b="1" dirty="0" smtClean="0">
                <a:solidFill>
                  <a:schemeClr val="bg1">
                    <a:lumMod val="85000"/>
                  </a:schemeClr>
                </a:solidFill>
              </a:rPr>
              <a:t>RGB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: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 184 157 48</a:t>
            </a:r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67" y="2584034"/>
            <a:ext cx="1311704" cy="1263216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8942368" y="4145278"/>
            <a:ext cx="20024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CMJN </a:t>
            </a: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: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28 12 100 0</a:t>
            </a:r>
            <a:endParaRPr lang="fr-FR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HEX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 : BDC00A</a:t>
            </a:r>
          </a:p>
          <a:p>
            <a:r>
              <a:rPr lang="en-US" b="1" dirty="0" smtClean="0">
                <a:solidFill>
                  <a:schemeClr val="bg1">
                    <a:lumMod val="85000"/>
                  </a:schemeClr>
                </a:solidFill>
              </a:rPr>
              <a:t>RGB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: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 189 192 10</a:t>
            </a:r>
          </a:p>
        </p:txBody>
      </p:sp>
    </p:spTree>
    <p:extLst>
      <p:ext uri="{BB962C8B-B14F-4D97-AF65-F5344CB8AC3E}">
        <p14:creationId xmlns:p14="http://schemas.microsoft.com/office/powerpoint/2010/main" val="386642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548640" y="457200"/>
            <a:ext cx="3058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>
                    <a:lumMod val="85000"/>
                  </a:schemeClr>
                </a:solidFill>
                <a:latin typeface="Algerian" panose="04020705040A02060702" pitchFamily="82" charset="0"/>
              </a:rPr>
              <a:t>La </a:t>
            </a:r>
            <a:r>
              <a:rPr lang="en-US" sz="2400" u="sng" dirty="0" smtClean="0">
                <a:solidFill>
                  <a:schemeClr val="bg1">
                    <a:lumMod val="85000"/>
                  </a:schemeClr>
                </a:solidFill>
                <a:latin typeface="Algerian" panose="04020705040A02060702" pitchFamily="82" charset="0"/>
              </a:rPr>
              <a:t>typographie</a:t>
            </a:r>
            <a:endParaRPr lang="en-US" sz="2400" u="sng" dirty="0">
              <a:solidFill>
                <a:schemeClr val="bg1">
                  <a:lumMod val="8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6593840" y="2611120"/>
            <a:ext cx="50901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2. Le Slogan (« </a:t>
            </a:r>
            <a:r>
              <a:rPr lang="fr-FR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Your Personal Fragrance Guide </a:t>
            </a:r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»)</a:t>
            </a:r>
          </a:p>
          <a:p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Pour le texte d'accompagnement, le logo utilise une police </a:t>
            </a:r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Sérif plus condensée et traditionnelle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endParaRPr lang="fr-FR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Style :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 Une police de style </a:t>
            </a:r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EB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Garamond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. Elle est plus étroite et plus haute, ce qui permet de loger une phrase complète tout en restant lisible.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802640" y="2611120"/>
            <a:ext cx="50901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1. Le Titre Principal (« </a:t>
            </a:r>
            <a:r>
              <a:rPr lang="fr-FR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SILLAGE</a:t>
            </a:r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 »)</a:t>
            </a:r>
          </a:p>
          <a:p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Il s'agit d'une police de type </a:t>
            </a:r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Sérif (à empattements)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, caractérisée par une élégance classique et une structure raffinée.</a:t>
            </a:r>
          </a:p>
          <a:p>
            <a:endParaRPr lang="fr-FR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Style :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 C’est une police </a:t>
            </a:r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Didone 72 moderne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. Elle présente un contraste marqué entre les traits pleins (épais) et les déliés (fins).</a:t>
            </a:r>
          </a:p>
          <a:p>
            <a:pPr lvl="1"/>
            <a:endParaRPr lang="fr-FR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fr-FR" b="1" dirty="0" smtClean="0">
                <a:solidFill>
                  <a:schemeClr val="bg1">
                    <a:lumMod val="85000"/>
                  </a:schemeClr>
                </a:solidFill>
              </a:rPr>
              <a:t>Particularité :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 Les lettres sont très espacées (lettrage étendu), ce qui évoque le haut de gamme et l'exclusivité.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00" y="21336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5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792480" y="457200"/>
            <a:ext cx="2611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>
                    <a:lumMod val="85000"/>
                  </a:schemeClr>
                </a:solidFill>
                <a:latin typeface="Algerian" panose="04020705040A02060702" pitchFamily="82" charset="0"/>
              </a:rPr>
              <a:t>Les </a:t>
            </a:r>
            <a:r>
              <a:rPr lang="en-US" sz="2400" u="sng" dirty="0" smtClean="0">
                <a:solidFill>
                  <a:schemeClr val="bg1">
                    <a:lumMod val="85000"/>
                  </a:schemeClr>
                </a:solidFill>
                <a:latin typeface="Algerian" panose="04020705040A02060702" pitchFamily="82" charset="0"/>
              </a:rPr>
              <a:t>interdits</a:t>
            </a:r>
            <a:endParaRPr lang="en-US" sz="2400" u="sng" dirty="0">
              <a:solidFill>
                <a:schemeClr val="bg1">
                  <a:lumMod val="85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840" y="1036320"/>
            <a:ext cx="2468880" cy="246888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0" y="3952240"/>
            <a:ext cx="2468880" cy="246888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720" y="3952240"/>
            <a:ext cx="2468880" cy="246888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380" y="3952240"/>
            <a:ext cx="2468880" cy="246888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0" y="1036320"/>
            <a:ext cx="2468880" cy="246888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720" y="1036320"/>
            <a:ext cx="2468880" cy="2468880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1979606" y="3058160"/>
            <a:ext cx="2299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Ne pas ajouter d’effets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9434807" y="5774789"/>
            <a:ext cx="18453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Ne pas supprimer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 des </a:t>
            </a:r>
            <a:r>
              <a:rPr lang="fr-FR" dirty="0" smtClean="0">
                <a:solidFill>
                  <a:srgbClr val="FF0000"/>
                </a:solidFill>
              </a:rPr>
              <a:t>é</a:t>
            </a:r>
            <a:r>
              <a:rPr lang="en-US" dirty="0" smtClean="0">
                <a:solidFill>
                  <a:srgbClr val="FF0000"/>
                </a:solidFill>
              </a:rPr>
              <a:t>lements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5276528" y="5716675"/>
            <a:ext cx="2929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Ne pas changer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 l’emplacement des </a:t>
            </a:r>
            <a:r>
              <a:rPr lang="fr-FR" dirty="0" smtClean="0">
                <a:solidFill>
                  <a:srgbClr val="FF0000"/>
                </a:solidFill>
              </a:rPr>
              <a:t>é</a:t>
            </a:r>
            <a:r>
              <a:rPr lang="en-US" dirty="0" smtClean="0">
                <a:solidFill>
                  <a:srgbClr val="FF0000"/>
                </a:solidFill>
              </a:rPr>
              <a:t>lements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391086" y="5716676"/>
            <a:ext cx="1631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Ne pas changer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la typographie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9595427" y="2799249"/>
            <a:ext cx="1684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Ne pas changer 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les couleurs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561653" y="3135868"/>
            <a:ext cx="2437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Ne pas d</a:t>
            </a:r>
            <a:r>
              <a:rPr lang="fr-FR" dirty="0" smtClean="0">
                <a:solidFill>
                  <a:srgbClr val="FF0000"/>
                </a:solidFill>
              </a:rPr>
              <a:t>e</a:t>
            </a:r>
            <a:r>
              <a:rPr lang="en-US" dirty="0" smtClean="0">
                <a:solidFill>
                  <a:srgbClr val="FF0000"/>
                </a:solidFill>
              </a:rPr>
              <a:t>former le logo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64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640080" y="426720"/>
            <a:ext cx="6518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>
                    <a:lumMod val="85000"/>
                  </a:schemeClr>
                </a:solidFill>
                <a:latin typeface="Algerian" panose="04020705040A02060702" pitchFamily="82" charset="0"/>
              </a:rPr>
              <a:t>Zone de protection &amp; taille </a:t>
            </a:r>
            <a:r>
              <a:rPr lang="en-US" sz="2400" u="sng" dirty="0" smtClean="0">
                <a:solidFill>
                  <a:schemeClr val="bg1">
                    <a:lumMod val="85000"/>
                  </a:schemeClr>
                </a:solidFill>
                <a:latin typeface="Algerian" panose="04020705040A02060702" pitchFamily="82" charset="0"/>
              </a:rPr>
              <a:t>minimale</a:t>
            </a:r>
            <a:endParaRPr lang="fr-FR" sz="2400" u="sng" dirty="0">
              <a:solidFill>
                <a:schemeClr val="bg1">
                  <a:lumMod val="8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640080" y="1148080"/>
            <a:ext cx="72683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La zone de protection correspond à l’espace obligatoire autour du logotype</a:t>
            </a:r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r>
              <a:rPr lang="fr-FR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Aucun élément ne doit venir perturber cet espace.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146" y="2412942"/>
            <a:ext cx="5883998" cy="3849753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454" y="4942743"/>
            <a:ext cx="2242292" cy="796293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880" y="2987040"/>
            <a:ext cx="1869440" cy="1869440"/>
          </a:xfrm>
          <a:prstGeom prst="rect">
            <a:avLst/>
          </a:prstGeom>
          <a:ln w="6350" cap="sq" cmpd="thickThin">
            <a:solidFill>
              <a:schemeClr val="bg2">
                <a:lumMod val="7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250685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18" y="2665179"/>
            <a:ext cx="4066329" cy="400304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275" y="-1"/>
            <a:ext cx="2689977" cy="3261547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94" y="137115"/>
            <a:ext cx="4332775" cy="3124431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5" y="4541521"/>
            <a:ext cx="6106783" cy="196081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5" y="1077288"/>
            <a:ext cx="3086531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274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359</Words>
  <Application>Microsoft Office PowerPoint</Application>
  <PresentationFormat>Grand écran</PresentationFormat>
  <Paragraphs>50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Algerian</vt:lpstr>
      <vt:lpstr>Arial</vt:lpstr>
      <vt:lpstr>Calibri</vt:lpstr>
      <vt:lpstr>Calibri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hp-pc</dc:creator>
  <cp:lastModifiedBy>hp-pc</cp:lastModifiedBy>
  <cp:revision>24</cp:revision>
  <dcterms:created xsi:type="dcterms:W3CDTF">2026-01-25T10:25:53Z</dcterms:created>
  <dcterms:modified xsi:type="dcterms:W3CDTF">2026-02-21T11:32:58Z</dcterms:modified>
</cp:coreProperties>
</file>